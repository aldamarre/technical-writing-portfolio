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107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07B0E6-4BAB-44D2-B7F1-920F9865A1A9}" type="doc">
      <dgm:prSet loTypeId="urn:microsoft.com/office/officeart/2005/8/layout/vProcess5" loCatId="process" qsTypeId="urn:microsoft.com/office/officeart/2005/8/quickstyle/simple2" qsCatId="simple" csTypeId="urn:microsoft.com/office/officeart/2005/8/colors/colorful1" csCatId="colorful" phldr="1"/>
      <dgm:spPr/>
      <dgm:t>
        <a:bodyPr/>
        <a:lstStyle/>
        <a:p>
          <a:endParaRPr lang="en-US"/>
        </a:p>
      </dgm:t>
    </dgm:pt>
    <dgm:pt modelId="{223E0C17-5F40-4826-9AC8-C8C9D29730E0}">
      <dgm:prSet/>
      <dgm:spPr/>
      <dgm:t>
        <a:bodyPr/>
        <a:lstStyle/>
        <a:p>
          <a:r>
            <a:rPr lang="en-US" dirty="0"/>
            <a:t>Increased attack sophistication</a:t>
          </a:r>
        </a:p>
      </dgm:t>
    </dgm:pt>
    <dgm:pt modelId="{B130B701-B58C-4282-B5E0-52DE1002E533}" type="parTrans" cxnId="{CE806C30-CF3F-466B-A469-3D5D69E1EEFC}">
      <dgm:prSet/>
      <dgm:spPr/>
      <dgm:t>
        <a:bodyPr/>
        <a:lstStyle/>
        <a:p>
          <a:endParaRPr lang="en-US"/>
        </a:p>
      </dgm:t>
    </dgm:pt>
    <dgm:pt modelId="{23889DB9-242C-4DAD-80F8-FCD420709736}" type="sibTrans" cxnId="{CE806C30-CF3F-466B-A469-3D5D69E1EEFC}">
      <dgm:prSet/>
      <dgm:spPr/>
      <dgm:t>
        <a:bodyPr/>
        <a:lstStyle/>
        <a:p>
          <a:endParaRPr lang="en-US"/>
        </a:p>
      </dgm:t>
    </dgm:pt>
    <dgm:pt modelId="{0CA60D14-80D8-4BAB-8C8C-9C931986EAF9}">
      <dgm:prSet/>
      <dgm:spPr/>
      <dgm:t>
        <a:bodyPr/>
        <a:lstStyle/>
        <a:p>
          <a:r>
            <a:rPr lang="en-US" dirty="0"/>
            <a:t>Need for faster and more efficient cryptographic algorithms</a:t>
          </a:r>
        </a:p>
      </dgm:t>
    </dgm:pt>
    <dgm:pt modelId="{AED1D7EE-5551-448C-A200-4917F95D1BC5}" type="parTrans" cxnId="{B4044712-86C7-459C-AFB1-9586FC924358}">
      <dgm:prSet/>
      <dgm:spPr/>
      <dgm:t>
        <a:bodyPr/>
        <a:lstStyle/>
        <a:p>
          <a:endParaRPr lang="en-US"/>
        </a:p>
      </dgm:t>
    </dgm:pt>
    <dgm:pt modelId="{1D9C8630-3B89-4BAD-99F7-7A597EB43647}" type="sibTrans" cxnId="{B4044712-86C7-459C-AFB1-9586FC924358}">
      <dgm:prSet/>
      <dgm:spPr/>
      <dgm:t>
        <a:bodyPr/>
        <a:lstStyle/>
        <a:p>
          <a:endParaRPr lang="en-US"/>
        </a:p>
      </dgm:t>
    </dgm:pt>
    <dgm:pt modelId="{EA2383FD-536F-4412-8709-02E629D39F8F}">
      <dgm:prSet/>
      <dgm:spPr/>
      <dgm:t>
        <a:bodyPr/>
        <a:lstStyle/>
        <a:p>
          <a:r>
            <a:rPr lang="en-US" dirty="0"/>
            <a:t>Adoption of post quantum cryptography</a:t>
          </a:r>
        </a:p>
      </dgm:t>
    </dgm:pt>
    <dgm:pt modelId="{FD0267DE-2D73-40C0-B57A-937A4B651A49}" type="parTrans" cxnId="{85233933-9200-4CAE-94C7-1FE1672DB537}">
      <dgm:prSet/>
      <dgm:spPr/>
      <dgm:t>
        <a:bodyPr/>
        <a:lstStyle/>
        <a:p>
          <a:endParaRPr lang="en-US"/>
        </a:p>
      </dgm:t>
    </dgm:pt>
    <dgm:pt modelId="{CA34D71B-18B4-47BE-9EA9-750A9A238125}" type="sibTrans" cxnId="{85233933-9200-4CAE-94C7-1FE1672DB537}">
      <dgm:prSet/>
      <dgm:spPr/>
      <dgm:t>
        <a:bodyPr/>
        <a:lstStyle/>
        <a:p>
          <a:endParaRPr lang="en-US"/>
        </a:p>
      </dgm:t>
    </dgm:pt>
    <dgm:pt modelId="{5239E66F-885A-4BB8-8D3E-97BEE5450167}">
      <dgm:prSet/>
      <dgm:spPr/>
      <dgm:t>
        <a:bodyPr/>
        <a:lstStyle/>
        <a:p>
          <a:r>
            <a:rPr lang="en-US" dirty="0"/>
            <a:t> Integration with artificial intelligence driven security tools</a:t>
          </a:r>
        </a:p>
      </dgm:t>
    </dgm:pt>
    <dgm:pt modelId="{5472F0FA-4407-4665-AB48-7C1D69B94A54}" type="parTrans" cxnId="{743E7416-DBC3-4412-AC8E-7BDA21938B1B}">
      <dgm:prSet/>
      <dgm:spPr/>
      <dgm:t>
        <a:bodyPr/>
        <a:lstStyle/>
        <a:p>
          <a:endParaRPr lang="en-US"/>
        </a:p>
      </dgm:t>
    </dgm:pt>
    <dgm:pt modelId="{1ABBA373-4410-4D95-96C5-43A623B53850}" type="sibTrans" cxnId="{743E7416-DBC3-4412-AC8E-7BDA21938B1B}">
      <dgm:prSet/>
      <dgm:spPr/>
      <dgm:t>
        <a:bodyPr/>
        <a:lstStyle/>
        <a:p>
          <a:endParaRPr lang="en-US"/>
        </a:p>
      </dgm:t>
    </dgm:pt>
    <dgm:pt modelId="{AF84C10A-86BB-415D-805B-88E19F428309}" type="pres">
      <dgm:prSet presAssocID="{1307B0E6-4BAB-44D2-B7F1-920F9865A1A9}" presName="outerComposite" presStyleCnt="0">
        <dgm:presLayoutVars>
          <dgm:chMax val="5"/>
          <dgm:dir/>
          <dgm:resizeHandles val="exact"/>
        </dgm:presLayoutVars>
      </dgm:prSet>
      <dgm:spPr/>
    </dgm:pt>
    <dgm:pt modelId="{3A27E20F-A93D-4CEB-9506-330B69C1A2C3}" type="pres">
      <dgm:prSet presAssocID="{1307B0E6-4BAB-44D2-B7F1-920F9865A1A9}" presName="dummyMaxCanvas" presStyleCnt="0">
        <dgm:presLayoutVars/>
      </dgm:prSet>
      <dgm:spPr/>
    </dgm:pt>
    <dgm:pt modelId="{DBC48F0C-E6A6-42B6-8627-B86E1BAB0193}" type="pres">
      <dgm:prSet presAssocID="{1307B0E6-4BAB-44D2-B7F1-920F9865A1A9}" presName="FourNodes_1" presStyleLbl="node1" presStyleIdx="0" presStyleCnt="4">
        <dgm:presLayoutVars>
          <dgm:bulletEnabled val="1"/>
        </dgm:presLayoutVars>
      </dgm:prSet>
      <dgm:spPr/>
    </dgm:pt>
    <dgm:pt modelId="{E5B902AD-536C-4BDD-991C-88A8306ADAA2}" type="pres">
      <dgm:prSet presAssocID="{1307B0E6-4BAB-44D2-B7F1-920F9865A1A9}" presName="FourNodes_2" presStyleLbl="node1" presStyleIdx="1" presStyleCnt="4">
        <dgm:presLayoutVars>
          <dgm:bulletEnabled val="1"/>
        </dgm:presLayoutVars>
      </dgm:prSet>
      <dgm:spPr/>
    </dgm:pt>
    <dgm:pt modelId="{2F50E92D-18D7-4418-82CE-3C38FFB70CDE}" type="pres">
      <dgm:prSet presAssocID="{1307B0E6-4BAB-44D2-B7F1-920F9865A1A9}" presName="FourNodes_3" presStyleLbl="node1" presStyleIdx="2" presStyleCnt="4">
        <dgm:presLayoutVars>
          <dgm:bulletEnabled val="1"/>
        </dgm:presLayoutVars>
      </dgm:prSet>
      <dgm:spPr/>
    </dgm:pt>
    <dgm:pt modelId="{64A20453-DEBE-4CFB-BD80-4BF4390BF9BA}" type="pres">
      <dgm:prSet presAssocID="{1307B0E6-4BAB-44D2-B7F1-920F9865A1A9}" presName="FourNodes_4" presStyleLbl="node1" presStyleIdx="3" presStyleCnt="4">
        <dgm:presLayoutVars>
          <dgm:bulletEnabled val="1"/>
        </dgm:presLayoutVars>
      </dgm:prSet>
      <dgm:spPr/>
    </dgm:pt>
    <dgm:pt modelId="{39429E74-9404-4CB1-B600-77842FC717A0}" type="pres">
      <dgm:prSet presAssocID="{1307B0E6-4BAB-44D2-B7F1-920F9865A1A9}" presName="FourConn_1-2" presStyleLbl="fgAccFollowNode1" presStyleIdx="0" presStyleCnt="3">
        <dgm:presLayoutVars>
          <dgm:bulletEnabled val="1"/>
        </dgm:presLayoutVars>
      </dgm:prSet>
      <dgm:spPr/>
    </dgm:pt>
    <dgm:pt modelId="{4794FEE9-3726-4007-B093-26D670396D71}" type="pres">
      <dgm:prSet presAssocID="{1307B0E6-4BAB-44D2-B7F1-920F9865A1A9}" presName="FourConn_2-3" presStyleLbl="fgAccFollowNode1" presStyleIdx="1" presStyleCnt="3">
        <dgm:presLayoutVars>
          <dgm:bulletEnabled val="1"/>
        </dgm:presLayoutVars>
      </dgm:prSet>
      <dgm:spPr/>
    </dgm:pt>
    <dgm:pt modelId="{ABB651BF-5AEB-4EB2-8285-3EBAAE0A85A0}" type="pres">
      <dgm:prSet presAssocID="{1307B0E6-4BAB-44D2-B7F1-920F9865A1A9}" presName="FourConn_3-4" presStyleLbl="fgAccFollowNode1" presStyleIdx="2" presStyleCnt="3">
        <dgm:presLayoutVars>
          <dgm:bulletEnabled val="1"/>
        </dgm:presLayoutVars>
      </dgm:prSet>
      <dgm:spPr/>
    </dgm:pt>
    <dgm:pt modelId="{62D37162-FE87-4189-8B87-D2B226184378}" type="pres">
      <dgm:prSet presAssocID="{1307B0E6-4BAB-44D2-B7F1-920F9865A1A9}" presName="FourNodes_1_text" presStyleLbl="node1" presStyleIdx="3" presStyleCnt="4">
        <dgm:presLayoutVars>
          <dgm:bulletEnabled val="1"/>
        </dgm:presLayoutVars>
      </dgm:prSet>
      <dgm:spPr/>
    </dgm:pt>
    <dgm:pt modelId="{368AE6B5-F56A-463E-BABB-FAF0A7DE9267}" type="pres">
      <dgm:prSet presAssocID="{1307B0E6-4BAB-44D2-B7F1-920F9865A1A9}" presName="FourNodes_2_text" presStyleLbl="node1" presStyleIdx="3" presStyleCnt="4">
        <dgm:presLayoutVars>
          <dgm:bulletEnabled val="1"/>
        </dgm:presLayoutVars>
      </dgm:prSet>
      <dgm:spPr/>
    </dgm:pt>
    <dgm:pt modelId="{5E5FB77E-113C-4D9B-B55C-5FBE8B1FF144}" type="pres">
      <dgm:prSet presAssocID="{1307B0E6-4BAB-44D2-B7F1-920F9865A1A9}" presName="FourNodes_3_text" presStyleLbl="node1" presStyleIdx="3" presStyleCnt="4">
        <dgm:presLayoutVars>
          <dgm:bulletEnabled val="1"/>
        </dgm:presLayoutVars>
      </dgm:prSet>
      <dgm:spPr/>
    </dgm:pt>
    <dgm:pt modelId="{232BF527-8BD0-407E-AD98-9D4F18F29EBD}" type="pres">
      <dgm:prSet presAssocID="{1307B0E6-4BAB-44D2-B7F1-920F9865A1A9}" presName="FourNodes_4_text" presStyleLbl="node1" presStyleIdx="3" presStyleCnt="4">
        <dgm:presLayoutVars>
          <dgm:bulletEnabled val="1"/>
        </dgm:presLayoutVars>
      </dgm:prSet>
      <dgm:spPr/>
    </dgm:pt>
  </dgm:ptLst>
  <dgm:cxnLst>
    <dgm:cxn modelId="{DEA8B104-FAB1-4ABF-815E-AEF37D628FB2}" type="presOf" srcId="{EA2383FD-536F-4412-8709-02E629D39F8F}" destId="{5E5FB77E-113C-4D9B-B55C-5FBE8B1FF144}" srcOrd="1" destOrd="0" presId="urn:microsoft.com/office/officeart/2005/8/layout/vProcess5"/>
    <dgm:cxn modelId="{B4044712-86C7-459C-AFB1-9586FC924358}" srcId="{1307B0E6-4BAB-44D2-B7F1-920F9865A1A9}" destId="{0CA60D14-80D8-4BAB-8C8C-9C931986EAF9}" srcOrd="1" destOrd="0" parTransId="{AED1D7EE-5551-448C-A200-4917F95D1BC5}" sibTransId="{1D9C8630-3B89-4BAD-99F7-7A597EB43647}"/>
    <dgm:cxn modelId="{F2768B12-56BD-4DB5-A0C3-24CD52E99396}" type="presOf" srcId="{223E0C17-5F40-4826-9AC8-C8C9D29730E0}" destId="{62D37162-FE87-4189-8B87-D2B226184378}" srcOrd="1" destOrd="0" presId="urn:microsoft.com/office/officeart/2005/8/layout/vProcess5"/>
    <dgm:cxn modelId="{743E7416-DBC3-4412-AC8E-7BDA21938B1B}" srcId="{1307B0E6-4BAB-44D2-B7F1-920F9865A1A9}" destId="{5239E66F-885A-4BB8-8D3E-97BEE5450167}" srcOrd="3" destOrd="0" parTransId="{5472F0FA-4407-4665-AB48-7C1D69B94A54}" sibTransId="{1ABBA373-4410-4D95-96C5-43A623B53850}"/>
    <dgm:cxn modelId="{1D6C1D19-FD4B-4037-BF25-BA3573720AFE}" type="presOf" srcId="{1D9C8630-3B89-4BAD-99F7-7A597EB43647}" destId="{4794FEE9-3726-4007-B093-26D670396D71}" srcOrd="0" destOrd="0" presId="urn:microsoft.com/office/officeart/2005/8/layout/vProcess5"/>
    <dgm:cxn modelId="{CE806C30-CF3F-466B-A469-3D5D69E1EEFC}" srcId="{1307B0E6-4BAB-44D2-B7F1-920F9865A1A9}" destId="{223E0C17-5F40-4826-9AC8-C8C9D29730E0}" srcOrd="0" destOrd="0" parTransId="{B130B701-B58C-4282-B5E0-52DE1002E533}" sibTransId="{23889DB9-242C-4DAD-80F8-FCD420709736}"/>
    <dgm:cxn modelId="{85233933-9200-4CAE-94C7-1FE1672DB537}" srcId="{1307B0E6-4BAB-44D2-B7F1-920F9865A1A9}" destId="{EA2383FD-536F-4412-8709-02E629D39F8F}" srcOrd="2" destOrd="0" parTransId="{FD0267DE-2D73-40C0-B57A-937A4B651A49}" sibTransId="{CA34D71B-18B4-47BE-9EA9-750A9A238125}"/>
    <dgm:cxn modelId="{48EB833D-8C94-487E-B390-8854FB022D96}" type="presOf" srcId="{223E0C17-5F40-4826-9AC8-C8C9D29730E0}" destId="{DBC48F0C-E6A6-42B6-8627-B86E1BAB0193}" srcOrd="0" destOrd="0" presId="urn:microsoft.com/office/officeart/2005/8/layout/vProcess5"/>
    <dgm:cxn modelId="{343A035D-703D-4380-ADBD-31F30FDFA071}" type="presOf" srcId="{23889DB9-242C-4DAD-80F8-FCD420709736}" destId="{39429E74-9404-4CB1-B600-77842FC717A0}" srcOrd="0" destOrd="0" presId="urn:microsoft.com/office/officeart/2005/8/layout/vProcess5"/>
    <dgm:cxn modelId="{4A82436F-B08F-46FD-8872-FF9417AFA189}" type="presOf" srcId="{EA2383FD-536F-4412-8709-02E629D39F8F}" destId="{2F50E92D-18D7-4418-82CE-3C38FFB70CDE}" srcOrd="0" destOrd="0" presId="urn:microsoft.com/office/officeart/2005/8/layout/vProcess5"/>
    <dgm:cxn modelId="{00F74A9A-7FD1-41D0-ABCC-4DBA9467257F}" type="presOf" srcId="{0CA60D14-80D8-4BAB-8C8C-9C931986EAF9}" destId="{368AE6B5-F56A-463E-BABB-FAF0A7DE9267}" srcOrd="1" destOrd="0" presId="urn:microsoft.com/office/officeart/2005/8/layout/vProcess5"/>
    <dgm:cxn modelId="{5C2494AA-4AE2-46A4-8F68-6545DE224A20}" type="presOf" srcId="{1307B0E6-4BAB-44D2-B7F1-920F9865A1A9}" destId="{AF84C10A-86BB-415D-805B-88E19F428309}" srcOrd="0" destOrd="0" presId="urn:microsoft.com/office/officeart/2005/8/layout/vProcess5"/>
    <dgm:cxn modelId="{455A3BB1-6AB1-4D1B-A360-00A784C70504}" type="presOf" srcId="{5239E66F-885A-4BB8-8D3E-97BEE5450167}" destId="{64A20453-DEBE-4CFB-BD80-4BF4390BF9BA}" srcOrd="0" destOrd="0" presId="urn:microsoft.com/office/officeart/2005/8/layout/vProcess5"/>
    <dgm:cxn modelId="{D25FD5BF-0BFE-4812-9077-E3F3D8A86812}" type="presOf" srcId="{CA34D71B-18B4-47BE-9EA9-750A9A238125}" destId="{ABB651BF-5AEB-4EB2-8285-3EBAAE0A85A0}" srcOrd="0" destOrd="0" presId="urn:microsoft.com/office/officeart/2005/8/layout/vProcess5"/>
    <dgm:cxn modelId="{C54590D8-4BD5-421E-BFE2-B5F8C713ADA8}" type="presOf" srcId="{0CA60D14-80D8-4BAB-8C8C-9C931986EAF9}" destId="{E5B902AD-536C-4BDD-991C-88A8306ADAA2}" srcOrd="0" destOrd="0" presId="urn:microsoft.com/office/officeart/2005/8/layout/vProcess5"/>
    <dgm:cxn modelId="{69645CE9-5619-4486-B19C-11686B2C6ABC}" type="presOf" srcId="{5239E66F-885A-4BB8-8D3E-97BEE5450167}" destId="{232BF527-8BD0-407E-AD98-9D4F18F29EBD}" srcOrd="1" destOrd="0" presId="urn:microsoft.com/office/officeart/2005/8/layout/vProcess5"/>
    <dgm:cxn modelId="{064CE4C3-8B95-40FF-BED3-5DBCCA0C3E7C}" type="presParOf" srcId="{AF84C10A-86BB-415D-805B-88E19F428309}" destId="{3A27E20F-A93D-4CEB-9506-330B69C1A2C3}" srcOrd="0" destOrd="0" presId="urn:microsoft.com/office/officeart/2005/8/layout/vProcess5"/>
    <dgm:cxn modelId="{2D894B6C-8EF0-4631-937F-EE5EFFF8B8C8}" type="presParOf" srcId="{AF84C10A-86BB-415D-805B-88E19F428309}" destId="{DBC48F0C-E6A6-42B6-8627-B86E1BAB0193}" srcOrd="1" destOrd="0" presId="urn:microsoft.com/office/officeart/2005/8/layout/vProcess5"/>
    <dgm:cxn modelId="{C68720C3-8A5F-48FE-9C93-2308BB76F180}" type="presParOf" srcId="{AF84C10A-86BB-415D-805B-88E19F428309}" destId="{E5B902AD-536C-4BDD-991C-88A8306ADAA2}" srcOrd="2" destOrd="0" presId="urn:microsoft.com/office/officeart/2005/8/layout/vProcess5"/>
    <dgm:cxn modelId="{5ED8E195-DCCA-4AFD-A9B0-2C14CA1A7D65}" type="presParOf" srcId="{AF84C10A-86BB-415D-805B-88E19F428309}" destId="{2F50E92D-18D7-4418-82CE-3C38FFB70CDE}" srcOrd="3" destOrd="0" presId="urn:microsoft.com/office/officeart/2005/8/layout/vProcess5"/>
    <dgm:cxn modelId="{11D69E9C-13F6-4CFF-9E05-8F1C48E8465A}" type="presParOf" srcId="{AF84C10A-86BB-415D-805B-88E19F428309}" destId="{64A20453-DEBE-4CFB-BD80-4BF4390BF9BA}" srcOrd="4" destOrd="0" presId="urn:microsoft.com/office/officeart/2005/8/layout/vProcess5"/>
    <dgm:cxn modelId="{E28D3EA2-F40C-4D76-8A27-AE1C6B19C707}" type="presParOf" srcId="{AF84C10A-86BB-415D-805B-88E19F428309}" destId="{39429E74-9404-4CB1-B600-77842FC717A0}" srcOrd="5" destOrd="0" presId="urn:microsoft.com/office/officeart/2005/8/layout/vProcess5"/>
    <dgm:cxn modelId="{1E8361C4-1DE5-4346-AA95-50F496D9DD22}" type="presParOf" srcId="{AF84C10A-86BB-415D-805B-88E19F428309}" destId="{4794FEE9-3726-4007-B093-26D670396D71}" srcOrd="6" destOrd="0" presId="urn:microsoft.com/office/officeart/2005/8/layout/vProcess5"/>
    <dgm:cxn modelId="{DD93B0E6-C101-4E4F-8948-2F6FBBC4895A}" type="presParOf" srcId="{AF84C10A-86BB-415D-805B-88E19F428309}" destId="{ABB651BF-5AEB-4EB2-8285-3EBAAE0A85A0}" srcOrd="7" destOrd="0" presId="urn:microsoft.com/office/officeart/2005/8/layout/vProcess5"/>
    <dgm:cxn modelId="{8316D8F3-545C-47D6-AB40-FEF1B1A81828}" type="presParOf" srcId="{AF84C10A-86BB-415D-805B-88E19F428309}" destId="{62D37162-FE87-4189-8B87-D2B226184378}" srcOrd="8" destOrd="0" presId="urn:microsoft.com/office/officeart/2005/8/layout/vProcess5"/>
    <dgm:cxn modelId="{224FABC3-AFC2-42E3-93A3-5B6844B2C107}" type="presParOf" srcId="{AF84C10A-86BB-415D-805B-88E19F428309}" destId="{368AE6B5-F56A-463E-BABB-FAF0A7DE9267}" srcOrd="9" destOrd="0" presId="urn:microsoft.com/office/officeart/2005/8/layout/vProcess5"/>
    <dgm:cxn modelId="{36081FA0-BC6D-40EF-BA5F-EA20A5D44124}" type="presParOf" srcId="{AF84C10A-86BB-415D-805B-88E19F428309}" destId="{5E5FB77E-113C-4D9B-B55C-5FBE8B1FF144}" srcOrd="10" destOrd="0" presId="urn:microsoft.com/office/officeart/2005/8/layout/vProcess5"/>
    <dgm:cxn modelId="{63449E18-3406-4339-8F8C-899A99FA3E9E}" type="presParOf" srcId="{AF84C10A-86BB-415D-805B-88E19F428309}" destId="{232BF527-8BD0-407E-AD98-9D4F18F29EBD}"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C48F0C-E6A6-42B6-8627-B86E1BAB0193}">
      <dsp:nvSpPr>
        <dsp:cNvPr id="0" name=""/>
        <dsp:cNvSpPr/>
      </dsp:nvSpPr>
      <dsp:spPr>
        <a:xfrm>
          <a:off x="0" y="0"/>
          <a:ext cx="6309360" cy="957294"/>
        </a:xfrm>
        <a:prstGeom prst="roundRect">
          <a:avLst>
            <a:gd name="adj" fmla="val 10000"/>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Increased attack sophistication</a:t>
          </a:r>
        </a:p>
      </dsp:txBody>
      <dsp:txXfrm>
        <a:off x="28038" y="28038"/>
        <a:ext cx="5195473" cy="901218"/>
      </dsp:txXfrm>
    </dsp:sp>
    <dsp:sp modelId="{E5B902AD-536C-4BDD-991C-88A8306ADAA2}">
      <dsp:nvSpPr>
        <dsp:cNvPr id="0" name=""/>
        <dsp:cNvSpPr/>
      </dsp:nvSpPr>
      <dsp:spPr>
        <a:xfrm>
          <a:off x="528408" y="1131347"/>
          <a:ext cx="6309360" cy="957294"/>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Need for faster and more efficient cryptographic algorithms</a:t>
          </a:r>
        </a:p>
      </dsp:txBody>
      <dsp:txXfrm>
        <a:off x="556446" y="1159385"/>
        <a:ext cx="5102633" cy="901218"/>
      </dsp:txXfrm>
    </dsp:sp>
    <dsp:sp modelId="{2F50E92D-18D7-4418-82CE-3C38FFB70CDE}">
      <dsp:nvSpPr>
        <dsp:cNvPr id="0" name=""/>
        <dsp:cNvSpPr/>
      </dsp:nvSpPr>
      <dsp:spPr>
        <a:xfrm>
          <a:off x="1048931" y="2262695"/>
          <a:ext cx="6309360" cy="957294"/>
        </a:xfrm>
        <a:prstGeom prst="roundRect">
          <a:avLst>
            <a:gd name="adj" fmla="val 10000"/>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Adoption of post quantum cryptography</a:t>
          </a:r>
        </a:p>
      </dsp:txBody>
      <dsp:txXfrm>
        <a:off x="1076969" y="2290733"/>
        <a:ext cx="5110520" cy="901218"/>
      </dsp:txXfrm>
    </dsp:sp>
    <dsp:sp modelId="{64A20453-DEBE-4CFB-BD80-4BF4390BF9BA}">
      <dsp:nvSpPr>
        <dsp:cNvPr id="0" name=""/>
        <dsp:cNvSpPr/>
      </dsp:nvSpPr>
      <dsp:spPr>
        <a:xfrm>
          <a:off x="1577340" y="3394043"/>
          <a:ext cx="6309360" cy="957294"/>
        </a:xfrm>
        <a:prstGeom prst="roundRect">
          <a:avLst>
            <a:gd name="adj" fmla="val 10000"/>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 Integration with artificial intelligence driven security tools</a:t>
          </a:r>
        </a:p>
      </dsp:txBody>
      <dsp:txXfrm>
        <a:off x="1605378" y="3422081"/>
        <a:ext cx="5102633" cy="901218"/>
      </dsp:txXfrm>
    </dsp:sp>
    <dsp:sp modelId="{39429E74-9404-4CB1-B600-77842FC717A0}">
      <dsp:nvSpPr>
        <dsp:cNvPr id="0" name=""/>
        <dsp:cNvSpPr/>
      </dsp:nvSpPr>
      <dsp:spPr>
        <a:xfrm>
          <a:off x="5687118" y="733200"/>
          <a:ext cx="622241" cy="622241"/>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5827122" y="733200"/>
        <a:ext cx="342233" cy="468236"/>
      </dsp:txXfrm>
    </dsp:sp>
    <dsp:sp modelId="{4794FEE9-3726-4007-B093-26D670396D71}">
      <dsp:nvSpPr>
        <dsp:cNvPr id="0" name=""/>
        <dsp:cNvSpPr/>
      </dsp:nvSpPr>
      <dsp:spPr>
        <a:xfrm>
          <a:off x="6215527" y="1864548"/>
          <a:ext cx="622241" cy="622241"/>
        </a:xfrm>
        <a:prstGeom prst="downArrow">
          <a:avLst>
            <a:gd name="adj1" fmla="val 55000"/>
            <a:gd name="adj2" fmla="val 45000"/>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6355531" y="1864548"/>
        <a:ext cx="342233" cy="468236"/>
      </dsp:txXfrm>
    </dsp:sp>
    <dsp:sp modelId="{ABB651BF-5AEB-4EB2-8285-3EBAAE0A85A0}">
      <dsp:nvSpPr>
        <dsp:cNvPr id="0" name=""/>
        <dsp:cNvSpPr/>
      </dsp:nvSpPr>
      <dsp:spPr>
        <a:xfrm>
          <a:off x="6736049" y="2995896"/>
          <a:ext cx="622241" cy="622241"/>
        </a:xfrm>
        <a:prstGeom prst="downArrow">
          <a:avLst>
            <a:gd name="adj1" fmla="val 55000"/>
            <a:gd name="adj2" fmla="val 45000"/>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6876053" y="2995896"/>
        <a:ext cx="342233" cy="46823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04B540-00FB-4625-B9D9-53F0C4F9750F}" type="datetimeFigureOut">
              <a:rPr lang="en-US" smtClean="0"/>
              <a:t>11/16/2025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2CD703-7076-448A-B693-2431A51ACDD0}" type="slidenum">
              <a:rPr lang="en-US" smtClean="0"/>
              <a:t>‹#›</a:t>
            </a:fld>
            <a:endParaRPr lang="en-US"/>
          </a:p>
        </p:txBody>
      </p:sp>
    </p:spTree>
    <p:extLst>
      <p:ext uri="{BB962C8B-B14F-4D97-AF65-F5344CB8AC3E}">
        <p14:creationId xmlns:p14="http://schemas.microsoft.com/office/powerpoint/2010/main" val="2929723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of cryptography in network security is explained in this presentation. Giving both technical and nontechnical professionals a clear grasp is the aim. I will describe what cryptography is, why it is important, how it functions in contemporary networks, and the future problems facing the field.</a:t>
            </a:r>
          </a:p>
        </p:txBody>
      </p:sp>
      <p:sp>
        <p:nvSpPr>
          <p:cNvPr id="4" name="Slide Number Placeholder 3"/>
          <p:cNvSpPr>
            <a:spLocks noGrp="1"/>
          </p:cNvSpPr>
          <p:nvPr>
            <p:ph type="sldNum" sz="quarter" idx="5"/>
          </p:nvPr>
        </p:nvSpPr>
        <p:spPr/>
        <p:txBody>
          <a:bodyPr/>
          <a:lstStyle/>
          <a:p>
            <a:fld id="{AC2CD703-7076-448A-B693-2431A51ACDD0}" type="slidenum">
              <a:rPr lang="en-US" smtClean="0"/>
              <a:t>1</a:t>
            </a:fld>
            <a:endParaRPr lang="en-US"/>
          </a:p>
        </p:txBody>
      </p:sp>
    </p:spTree>
    <p:extLst>
      <p:ext uri="{BB962C8B-B14F-4D97-AF65-F5344CB8AC3E}">
        <p14:creationId xmlns:p14="http://schemas.microsoft.com/office/powerpoint/2010/main" val="196536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Cryptography protects information by converting readable data into a secure format that only authorized users can access. It ensures confidentiality, integrity, authenticity, and nonrepudiation. These functions apply across many environments, including enterprise networks, cloud systems, mobile platforms, and cyber physical systems. Cryptography is a foundation of secure communication.</a:t>
            </a:r>
          </a:p>
        </p:txBody>
      </p:sp>
      <p:sp>
        <p:nvSpPr>
          <p:cNvPr id="4" name="Slide Number Placeholder 3"/>
          <p:cNvSpPr>
            <a:spLocks noGrp="1"/>
          </p:cNvSpPr>
          <p:nvPr>
            <p:ph type="sldNum" sz="quarter" idx="5"/>
          </p:nvPr>
        </p:nvSpPr>
        <p:spPr/>
        <p:txBody>
          <a:bodyPr/>
          <a:lstStyle/>
          <a:p>
            <a:fld id="{AC2CD703-7076-448A-B693-2431A51ACDD0}" type="slidenum">
              <a:rPr lang="en-US" smtClean="0"/>
              <a:t>2</a:t>
            </a:fld>
            <a:endParaRPr lang="en-US"/>
          </a:p>
        </p:txBody>
      </p:sp>
    </p:spTree>
    <p:extLst>
      <p:ext uri="{BB962C8B-B14F-4D97-AF65-F5344CB8AC3E}">
        <p14:creationId xmlns:p14="http://schemas.microsoft.com/office/powerpoint/2010/main" val="1030028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Attackers cannot see or modify data while it is being transmitted due to cryptography. It helps prevent unwanted access attempts and safeguards data as it travels across networks. It is crucial for protecting IoT systems and automated devices. Adhering to industry and legal security standards also helps with compliance needs. </a:t>
            </a:r>
          </a:p>
        </p:txBody>
      </p:sp>
      <p:sp>
        <p:nvSpPr>
          <p:cNvPr id="4" name="Slide Number Placeholder 3"/>
          <p:cNvSpPr>
            <a:spLocks noGrp="1"/>
          </p:cNvSpPr>
          <p:nvPr>
            <p:ph type="sldNum" sz="quarter" idx="5"/>
          </p:nvPr>
        </p:nvSpPr>
        <p:spPr/>
        <p:txBody>
          <a:bodyPr/>
          <a:lstStyle/>
          <a:p>
            <a:fld id="{AC2CD703-7076-448A-B693-2431A51ACDD0}" type="slidenum">
              <a:rPr lang="en-US" smtClean="0"/>
              <a:t>3</a:t>
            </a:fld>
            <a:endParaRPr lang="en-US"/>
          </a:p>
        </p:txBody>
      </p:sp>
    </p:spTree>
    <p:extLst>
      <p:ext uri="{BB962C8B-B14F-4D97-AF65-F5344CB8AC3E}">
        <p14:creationId xmlns:p14="http://schemas.microsoft.com/office/powerpoint/2010/main" val="3774766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several main categories of cryptography. Symmetric encryption is quick for massive data volumes and employs a single key for both encryption and decryption. The key exchange issue is resolved by asymmetric encryption, which employs a public and private key pair. Fixed outputs from hashing are used to confirm integrity. Real-time systems that require effective and portable security are supported by stream ciphers. </a:t>
            </a:r>
          </a:p>
        </p:txBody>
      </p:sp>
      <p:sp>
        <p:nvSpPr>
          <p:cNvPr id="4" name="Slide Number Placeholder 3"/>
          <p:cNvSpPr>
            <a:spLocks noGrp="1"/>
          </p:cNvSpPr>
          <p:nvPr>
            <p:ph type="sldNum" sz="quarter" idx="5"/>
          </p:nvPr>
        </p:nvSpPr>
        <p:spPr/>
        <p:txBody>
          <a:bodyPr/>
          <a:lstStyle/>
          <a:p>
            <a:fld id="{AC2CD703-7076-448A-B693-2431A51ACDD0}" type="slidenum">
              <a:rPr lang="en-US" smtClean="0"/>
              <a:t>4</a:t>
            </a:fld>
            <a:endParaRPr lang="en-US"/>
          </a:p>
        </p:txBody>
      </p:sp>
    </p:spTree>
    <p:extLst>
      <p:ext uri="{BB962C8B-B14F-4D97-AF65-F5344CB8AC3E}">
        <p14:creationId xmlns:p14="http://schemas.microsoft.com/office/powerpoint/2010/main" val="3342858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Cryptography secures automated scripts and orchestration tools that configure networks. It protects communication inside software defined networks and cloud environments. Real time threat detection systems rely on cryptographic validation to confirm that the data they analyze has not been altered. These functions strengthen the overall security posture of modern networks.</a:t>
            </a:r>
          </a:p>
        </p:txBody>
      </p:sp>
      <p:sp>
        <p:nvSpPr>
          <p:cNvPr id="4" name="Slide Number Placeholder 3"/>
          <p:cNvSpPr>
            <a:spLocks noGrp="1"/>
          </p:cNvSpPr>
          <p:nvPr>
            <p:ph type="sldNum" sz="quarter" idx="5"/>
          </p:nvPr>
        </p:nvSpPr>
        <p:spPr/>
        <p:txBody>
          <a:bodyPr/>
          <a:lstStyle/>
          <a:p>
            <a:fld id="{AC2CD703-7076-448A-B693-2431A51ACDD0}" type="slidenum">
              <a:rPr lang="en-US" smtClean="0"/>
              <a:t>5</a:t>
            </a:fld>
            <a:endParaRPr lang="en-US"/>
          </a:p>
        </p:txBody>
      </p:sp>
    </p:spTree>
    <p:extLst>
      <p:ext uri="{BB962C8B-B14F-4D97-AF65-F5344CB8AC3E}">
        <p14:creationId xmlns:p14="http://schemas.microsoft.com/office/powerpoint/2010/main" val="338936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threats evolve, cryptography must adapt. Larger systems demand efficient algorithms that work under heavy loads. Post quantum cryptography will prepare networks for future computing threats. Artificial intelligence continues to support automated decision making, and cryptography strengthens the trustworthiness of those systems.</a:t>
            </a:r>
          </a:p>
        </p:txBody>
      </p:sp>
      <p:sp>
        <p:nvSpPr>
          <p:cNvPr id="4" name="Slide Number Placeholder 3"/>
          <p:cNvSpPr>
            <a:spLocks noGrp="1"/>
          </p:cNvSpPr>
          <p:nvPr>
            <p:ph type="sldNum" sz="quarter" idx="5"/>
          </p:nvPr>
        </p:nvSpPr>
        <p:spPr/>
        <p:txBody>
          <a:bodyPr/>
          <a:lstStyle/>
          <a:p>
            <a:fld id="{AC2CD703-7076-448A-B693-2431A51ACDD0}" type="slidenum">
              <a:rPr lang="en-US" smtClean="0"/>
              <a:t>6</a:t>
            </a:fld>
            <a:endParaRPr lang="en-US"/>
          </a:p>
        </p:txBody>
      </p:sp>
    </p:spTree>
    <p:extLst>
      <p:ext uri="{BB962C8B-B14F-4D97-AF65-F5344CB8AC3E}">
        <p14:creationId xmlns:p14="http://schemas.microsoft.com/office/powerpoint/2010/main" val="2701537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cryptography is essential for protecting modern networks. It keeps communications secure and strengthens automated tools that operate at scale. As new technologies emerge, cryptographic methods will continue to expand and remain a core component of cybersecurity.</a:t>
            </a:r>
          </a:p>
        </p:txBody>
      </p:sp>
      <p:sp>
        <p:nvSpPr>
          <p:cNvPr id="4" name="Slide Number Placeholder 3"/>
          <p:cNvSpPr>
            <a:spLocks noGrp="1"/>
          </p:cNvSpPr>
          <p:nvPr>
            <p:ph type="sldNum" sz="quarter" idx="5"/>
          </p:nvPr>
        </p:nvSpPr>
        <p:spPr/>
        <p:txBody>
          <a:bodyPr/>
          <a:lstStyle/>
          <a:p>
            <a:fld id="{AC2CD703-7076-448A-B693-2431A51ACDD0}" type="slidenum">
              <a:rPr lang="en-US" smtClean="0"/>
              <a:t>7</a:t>
            </a:fld>
            <a:endParaRPr lang="en-US"/>
          </a:p>
        </p:txBody>
      </p:sp>
    </p:spTree>
    <p:extLst>
      <p:ext uri="{BB962C8B-B14F-4D97-AF65-F5344CB8AC3E}">
        <p14:creationId xmlns:p14="http://schemas.microsoft.com/office/powerpoint/2010/main" val="2616242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6.jpeg"/><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59983" y="741391"/>
            <a:ext cx="2526926" cy="1616203"/>
          </a:xfrm>
        </p:spPr>
        <p:txBody>
          <a:bodyPr anchor="b">
            <a:normAutofit/>
          </a:bodyPr>
          <a:lstStyle/>
          <a:p>
            <a:r>
              <a:rPr lang="en-US" sz="2600"/>
              <a:t>The Role of Cryptography in Network Security</a:t>
            </a:r>
          </a:p>
        </p:txBody>
      </p:sp>
      <p:pic>
        <p:nvPicPr>
          <p:cNvPr id="14" name="Picture 13">
            <a:extLst>
              <a:ext uri="{FF2B5EF4-FFF2-40B4-BE49-F238E27FC236}">
                <a16:creationId xmlns:a16="http://schemas.microsoft.com/office/drawing/2014/main" id="{A40CE388-905B-DEBA-5D91-4BE8CC19844F}"/>
              </a:ext>
            </a:extLst>
          </p:cNvPr>
          <p:cNvPicPr>
            <a:picLocks noChangeAspect="1"/>
          </p:cNvPicPr>
          <p:nvPr/>
        </p:nvPicPr>
        <p:blipFill>
          <a:blip r:embed="rId3"/>
          <a:srcRect l="27096" r="27443"/>
          <a:stretch>
            <a:fillRect/>
          </a:stretch>
        </p:blipFill>
        <p:spPr>
          <a:xfrm>
            <a:off x="20" y="10"/>
            <a:ext cx="5542677" cy="6857990"/>
          </a:xfrm>
          <a:prstGeom prst="rect">
            <a:avLst/>
          </a:prstGeom>
        </p:spPr>
      </p:pic>
      <p:sp>
        <p:nvSpPr>
          <p:cNvPr id="15" name="Rectangle 14">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955894" y="3271199"/>
            <a:ext cx="1630908" cy="5542697"/>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2296081" y="2296080"/>
            <a:ext cx="6854280" cy="226211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46242" y="4425055"/>
            <a:ext cx="2196454"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 name="Content Placeholder 2"/>
          <p:cNvSpPr>
            <a:spLocks noGrp="1"/>
          </p:cNvSpPr>
          <p:nvPr>
            <p:ph idx="1"/>
          </p:nvPr>
        </p:nvSpPr>
        <p:spPr>
          <a:xfrm>
            <a:off x="6059983" y="2533476"/>
            <a:ext cx="2526926" cy="3447832"/>
          </a:xfrm>
        </p:spPr>
        <p:txBody>
          <a:bodyPr anchor="t">
            <a:normAutofit/>
          </a:bodyPr>
          <a:lstStyle/>
          <a:p>
            <a:pPr marL="0" indent="0">
              <a:buNone/>
            </a:pPr>
            <a:endParaRPr lang="en-US" sz="1700" dirty="0"/>
          </a:p>
          <a:p>
            <a:pPr marL="0" indent="0">
              <a:buNone/>
            </a:pPr>
            <a:endParaRPr lang="en-US" sz="1700" dirty="0"/>
          </a:p>
          <a:p>
            <a:pPr marL="0" indent="0">
              <a:buNone/>
            </a:pPr>
            <a:endParaRPr lang="en-US" sz="1700" dirty="0"/>
          </a:p>
          <a:p>
            <a:pPr marL="0" indent="0" algn="ctr">
              <a:buNone/>
            </a:pPr>
            <a:endParaRPr lang="en-US" sz="1700" dirty="0"/>
          </a:p>
          <a:p>
            <a:pPr marL="0" indent="0" algn="r">
              <a:buNone/>
            </a:pPr>
            <a:r>
              <a:rPr lang="en-US" sz="1700" dirty="0"/>
              <a:t>Protecting Data in Modern Digital Systems</a:t>
            </a:r>
          </a:p>
          <a:p>
            <a:pPr marL="0" indent="0" algn="r">
              <a:buNone/>
            </a:pPr>
            <a:r>
              <a:rPr lang="en-US" sz="1700" dirty="0"/>
              <a:t>Aldamarre Jean</a:t>
            </a:r>
          </a:p>
          <a:p>
            <a:pPr marL="0" indent="0" algn="r">
              <a:buNone/>
            </a:pPr>
            <a:r>
              <a:rPr lang="en-US" sz="1700" dirty="0"/>
              <a:t>11/16/2025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What Is Cryptography</a:t>
            </a:r>
          </a:p>
        </p:txBody>
      </p:sp>
      <p:sp>
        <p:nvSpPr>
          <p:cNvPr id="3" name="Content Placeholder 2"/>
          <p:cNvSpPr>
            <a:spLocks noGrp="1"/>
          </p:cNvSpPr>
          <p:nvPr>
            <p:ph idx="1"/>
          </p:nvPr>
        </p:nvSpPr>
        <p:spPr>
          <a:xfrm>
            <a:off x="571350" y="2470244"/>
            <a:ext cx="4000647" cy="3769835"/>
          </a:xfrm>
        </p:spPr>
        <p:txBody>
          <a:bodyPr anchor="ctr">
            <a:normAutofit/>
          </a:bodyPr>
          <a:lstStyle/>
          <a:p>
            <a:r>
              <a:rPr lang="en-US" sz="1700"/>
              <a:t>Cryptography is a method of protecting information by transforming it into a form that only authorized users can read. </a:t>
            </a:r>
          </a:p>
          <a:p>
            <a:r>
              <a:rPr lang="en-US" sz="1700"/>
              <a:t>It ensures confidentiality, integrity, authenticity, and non-repudiation. </a:t>
            </a:r>
          </a:p>
          <a:p>
            <a:r>
              <a:rPr lang="en-US" sz="1700"/>
              <a:t>Used across networks, mobile systems, cloud platforms, and cyber-physical systems.</a:t>
            </a:r>
          </a:p>
        </p:txBody>
      </p:sp>
      <p:pic>
        <p:nvPicPr>
          <p:cNvPr id="5" name="Picture 4">
            <a:extLst>
              <a:ext uri="{FF2B5EF4-FFF2-40B4-BE49-F238E27FC236}">
                <a16:creationId xmlns:a16="http://schemas.microsoft.com/office/drawing/2014/main" id="{09E4E85F-40C3-6A3D-0932-44721C0345F0}"/>
              </a:ext>
            </a:extLst>
          </p:cNvPr>
          <p:cNvPicPr>
            <a:picLocks noChangeAspect="1"/>
          </p:cNvPicPr>
          <p:nvPr/>
        </p:nvPicPr>
        <p:blipFill>
          <a:blip r:embed="rId3"/>
          <a:srcRect l="16898" r="50340"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Why Cryptography Matters</a:t>
            </a:r>
          </a:p>
        </p:txBody>
      </p:sp>
      <p:sp>
        <p:nvSpPr>
          <p:cNvPr id="3" name="Content Placeholder 2"/>
          <p:cNvSpPr>
            <a:spLocks noGrp="1"/>
          </p:cNvSpPr>
          <p:nvPr>
            <p:ph idx="1"/>
          </p:nvPr>
        </p:nvSpPr>
        <p:spPr>
          <a:xfrm>
            <a:off x="571350" y="2470244"/>
            <a:ext cx="4000647" cy="3769835"/>
          </a:xfrm>
        </p:spPr>
        <p:txBody>
          <a:bodyPr anchor="ctr">
            <a:normAutofit/>
          </a:bodyPr>
          <a:lstStyle/>
          <a:p>
            <a:r>
              <a:rPr lang="en-US" sz="2000" dirty="0"/>
              <a:t>Protects transmitted data from interception.</a:t>
            </a:r>
          </a:p>
          <a:p>
            <a:r>
              <a:rPr lang="en-US" sz="2000" dirty="0"/>
              <a:t>Blocks unauthorized access during attacks.</a:t>
            </a:r>
          </a:p>
          <a:p>
            <a:r>
              <a:rPr lang="en-US" sz="2000" dirty="0"/>
              <a:t>Secures automated systems and IoT devices.</a:t>
            </a:r>
          </a:p>
          <a:p>
            <a:r>
              <a:rPr lang="en-US" sz="2000" dirty="0"/>
              <a:t>Supports compliance with regulations.</a:t>
            </a:r>
          </a:p>
        </p:txBody>
      </p:sp>
      <p:pic>
        <p:nvPicPr>
          <p:cNvPr id="5" name="Picture 4" descr="Blue blocks and networks technology background">
            <a:extLst>
              <a:ext uri="{FF2B5EF4-FFF2-40B4-BE49-F238E27FC236}">
                <a16:creationId xmlns:a16="http://schemas.microsoft.com/office/drawing/2014/main" id="{93CE6A06-47B9-36E7-94F1-7FAC71E69F4F}"/>
              </a:ext>
            </a:extLst>
          </p:cNvPr>
          <p:cNvPicPr>
            <a:picLocks noChangeAspect="1"/>
          </p:cNvPicPr>
          <p:nvPr/>
        </p:nvPicPr>
        <p:blipFill>
          <a:blip r:embed="rId3"/>
          <a:srcRect l="18164" r="49074" b="-448"/>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Common Cryptographic Methods</a:t>
            </a:r>
          </a:p>
        </p:txBody>
      </p:sp>
      <p:sp>
        <p:nvSpPr>
          <p:cNvPr id="3" name="Content Placeholder 2"/>
          <p:cNvSpPr>
            <a:spLocks noGrp="1"/>
          </p:cNvSpPr>
          <p:nvPr>
            <p:ph idx="1"/>
          </p:nvPr>
        </p:nvSpPr>
        <p:spPr>
          <a:xfrm>
            <a:off x="571349" y="2470244"/>
            <a:ext cx="4000647" cy="3769835"/>
          </a:xfrm>
        </p:spPr>
        <p:txBody>
          <a:bodyPr anchor="ctr">
            <a:normAutofit/>
          </a:bodyPr>
          <a:lstStyle/>
          <a:p>
            <a:r>
              <a:rPr lang="en-US" sz="1800" b="1" dirty="0"/>
              <a:t>Symmetric Encryption</a:t>
            </a:r>
            <a:r>
              <a:rPr lang="en-US" sz="1800" dirty="0"/>
              <a:t>: One key for both encryption and decryption. </a:t>
            </a:r>
          </a:p>
          <a:p>
            <a:r>
              <a:rPr lang="en-US" sz="1800" b="1" dirty="0"/>
              <a:t>Asymmetric Encryption</a:t>
            </a:r>
            <a:r>
              <a:rPr lang="en-US" sz="1800" dirty="0"/>
              <a:t>: Public and private keys for secure communication.</a:t>
            </a:r>
          </a:p>
          <a:p>
            <a:r>
              <a:rPr lang="en-US" sz="1800" b="1" dirty="0"/>
              <a:t>Hashing</a:t>
            </a:r>
            <a:r>
              <a:rPr lang="en-US" sz="1800" dirty="0"/>
              <a:t>: Creates fixed outputs used for verification.</a:t>
            </a:r>
          </a:p>
          <a:p>
            <a:r>
              <a:rPr lang="en-US" sz="1800" b="1" dirty="0"/>
              <a:t>Stream Ciphers</a:t>
            </a:r>
            <a:r>
              <a:rPr lang="en-US" sz="1800" dirty="0"/>
              <a:t>: Lightweight encryption for real time automation. </a:t>
            </a:r>
            <a:endParaRPr lang="en-US" sz="1700" dirty="0"/>
          </a:p>
        </p:txBody>
      </p:sp>
      <p:pic>
        <p:nvPicPr>
          <p:cNvPr id="5" name="Picture 4" descr="Padlock on computer motherboard">
            <a:extLst>
              <a:ext uri="{FF2B5EF4-FFF2-40B4-BE49-F238E27FC236}">
                <a16:creationId xmlns:a16="http://schemas.microsoft.com/office/drawing/2014/main" id="{5ABC7F89-DBCD-F5D7-7ED2-0A7EED08571B}"/>
              </a:ext>
            </a:extLst>
          </p:cNvPr>
          <p:cNvPicPr>
            <a:picLocks noChangeAspect="1"/>
          </p:cNvPicPr>
          <p:nvPr/>
        </p:nvPicPr>
        <p:blipFill>
          <a:blip r:embed="rId3"/>
          <a:srcRect l="24703" r="36419"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Cryptography in Modern Networks</a:t>
            </a:r>
          </a:p>
        </p:txBody>
      </p:sp>
      <p:sp>
        <p:nvSpPr>
          <p:cNvPr id="7" name="Content Placeholder 6">
            <a:extLst>
              <a:ext uri="{FF2B5EF4-FFF2-40B4-BE49-F238E27FC236}">
                <a16:creationId xmlns:a16="http://schemas.microsoft.com/office/drawing/2014/main" id="{E903FF67-7BFA-7A8E-73DE-F4DB086D634F}"/>
              </a:ext>
            </a:extLst>
          </p:cNvPr>
          <p:cNvSpPr>
            <a:spLocks noGrp="1"/>
          </p:cNvSpPr>
          <p:nvPr>
            <p:ph idx="1"/>
          </p:nvPr>
        </p:nvSpPr>
        <p:spPr>
          <a:xfrm>
            <a:off x="571350" y="2470244"/>
            <a:ext cx="4000647" cy="3208179"/>
          </a:xfrm>
        </p:spPr>
        <p:txBody>
          <a:bodyPr anchor="ctr">
            <a:normAutofit/>
          </a:bodyPr>
          <a:lstStyle/>
          <a:p>
            <a:r>
              <a:rPr lang="en-US" sz="1700" dirty="0"/>
              <a:t>Essential for securing automated scripts and network orchestration tools.</a:t>
            </a:r>
          </a:p>
          <a:p>
            <a:r>
              <a:rPr lang="en-US" sz="1700" dirty="0"/>
              <a:t> Protects communication in software defined networks and cloud environments.</a:t>
            </a:r>
          </a:p>
          <a:p>
            <a:r>
              <a:rPr lang="en-US" sz="1700" dirty="0"/>
              <a:t>Supports situational awareness tools that detect threats in real time.</a:t>
            </a:r>
          </a:p>
        </p:txBody>
      </p:sp>
      <p:pic>
        <p:nvPicPr>
          <p:cNvPr id="6" name="Picture 5" descr="A blurry blue and white background&#10;&#10;AI-generated content may be incorrect.">
            <a:extLst>
              <a:ext uri="{FF2B5EF4-FFF2-40B4-BE49-F238E27FC236}">
                <a16:creationId xmlns:a16="http://schemas.microsoft.com/office/drawing/2014/main" id="{949FC621-5286-FA49-E530-2CF38F821F70}"/>
              </a:ext>
            </a:extLst>
          </p:cNvPr>
          <p:cNvPicPr>
            <a:picLocks noChangeAspect="1"/>
          </p:cNvPicPr>
          <p:nvPr/>
        </p:nvPicPr>
        <p:blipFill>
          <a:blip r:embed="rId3"/>
          <a:srcRect l="22108" r="39014"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67436C1-8B88-DC20-CB02-A2ADA51DCE84}"/>
              </a:ext>
            </a:extLst>
          </p:cNvPr>
          <p:cNvPicPr>
            <a:picLocks noChangeAspect="1"/>
          </p:cNvPicPr>
          <p:nvPr/>
        </p:nvPicPr>
        <p:blipFill>
          <a:blip r:embed="rId3">
            <a:duotone>
              <a:schemeClr val="bg2">
                <a:shade val="45000"/>
                <a:satMod val="135000"/>
              </a:schemeClr>
              <a:prstClr val="white"/>
            </a:duotone>
          </a:blip>
          <a:srcRect l="10712" r="287" b="-1"/>
          <a:stretch>
            <a:fillRect/>
          </a:stretch>
        </p:blipFill>
        <p:spPr>
          <a:xfrm>
            <a:off x="20" y="10"/>
            <a:ext cx="9143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pPr>
              <a:lnSpc>
                <a:spcPct val="90000"/>
              </a:lnSpc>
            </a:pPr>
            <a:r>
              <a:rPr lang="en-US" dirty="0"/>
              <a:t>Challenges and Future Directions</a:t>
            </a:r>
          </a:p>
        </p:txBody>
      </p:sp>
      <p:graphicFrame>
        <p:nvGraphicFramePr>
          <p:cNvPr id="5" name="Content Placeholder 2">
            <a:extLst>
              <a:ext uri="{FF2B5EF4-FFF2-40B4-BE49-F238E27FC236}">
                <a16:creationId xmlns:a16="http://schemas.microsoft.com/office/drawing/2014/main" id="{D52A2FA0-E7EA-C894-AE6C-421FE80A5104}"/>
              </a:ext>
            </a:extLst>
          </p:cNvPr>
          <p:cNvGraphicFramePr>
            <a:graphicFrameLocks noGrp="1"/>
          </p:cNvGraphicFramePr>
          <p:nvPr>
            <p:ph idx="1"/>
            <p:extLst>
              <p:ext uri="{D42A27DB-BD31-4B8C-83A1-F6EECF244321}">
                <p14:modId xmlns:p14="http://schemas.microsoft.com/office/powerpoint/2010/main" val="348045321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lue blocks and networks technology background">
            <a:extLst>
              <a:ext uri="{FF2B5EF4-FFF2-40B4-BE49-F238E27FC236}">
                <a16:creationId xmlns:a16="http://schemas.microsoft.com/office/drawing/2014/main" id="{8377B62C-E8B3-8E3A-4E18-13F55F10B29B}"/>
              </a:ext>
            </a:extLst>
          </p:cNvPr>
          <p:cNvPicPr>
            <a:picLocks noChangeAspect="1"/>
          </p:cNvPicPr>
          <p:nvPr/>
        </p:nvPicPr>
        <p:blipFill>
          <a:blip r:embed="rId3"/>
          <a:srcRect l="17904" r="48815" b="-446"/>
          <a:stretch>
            <a:fillRect/>
          </a:stretch>
        </p:blipFill>
        <p:spPr>
          <a:xfrm>
            <a:off x="20" y="-2"/>
            <a:ext cx="4057627"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47" y="-1"/>
            <a:ext cx="508635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86487" y="405685"/>
            <a:ext cx="4098726" cy="1559301"/>
          </a:xfrm>
        </p:spPr>
        <p:txBody>
          <a:bodyPr>
            <a:normAutofit/>
          </a:bodyPr>
          <a:lstStyle/>
          <a:p>
            <a:r>
              <a:rPr lang="en-US" sz="3500"/>
              <a:t>Conclusion</a:t>
            </a:r>
          </a:p>
        </p:txBody>
      </p:sp>
      <p:sp>
        <p:nvSpPr>
          <p:cNvPr id="3" name="Content Placeholder 2"/>
          <p:cNvSpPr>
            <a:spLocks noGrp="1"/>
          </p:cNvSpPr>
          <p:nvPr>
            <p:ph idx="1"/>
          </p:nvPr>
        </p:nvSpPr>
        <p:spPr>
          <a:xfrm>
            <a:off x="4586487" y="2743200"/>
            <a:ext cx="3935505" cy="3496878"/>
          </a:xfrm>
        </p:spPr>
        <p:txBody>
          <a:bodyPr anchor="ctr">
            <a:normAutofit/>
          </a:bodyPr>
          <a:lstStyle/>
          <a:p>
            <a:r>
              <a:rPr lang="en-US" sz="1700" dirty="0"/>
              <a:t>Cryptography is foundational to network security.</a:t>
            </a:r>
          </a:p>
          <a:p>
            <a:r>
              <a:rPr lang="en-US" sz="1700" dirty="0"/>
              <a:t>Protects data, systems, and automated environments.</a:t>
            </a:r>
          </a:p>
          <a:p>
            <a:r>
              <a:rPr lang="en-US" sz="1700" dirty="0"/>
              <a:t>Future networks will rely even more on advanced algorithms.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614</Words>
  <Application>Microsoft Office PowerPoint</Application>
  <PresentationFormat>On-screen Show (4:3)</PresentationFormat>
  <Paragraphs>49</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Calibri</vt:lpstr>
      <vt:lpstr>Office Theme</vt:lpstr>
      <vt:lpstr>The Role of Cryptography in Network Security</vt:lpstr>
      <vt:lpstr>What Is Cryptography</vt:lpstr>
      <vt:lpstr>Why Cryptography Matters</vt:lpstr>
      <vt:lpstr>Common Cryptographic Methods</vt:lpstr>
      <vt:lpstr>Cryptography in Modern Networks</vt:lpstr>
      <vt:lpstr>Challenges and Future Directions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Jean Aldamarre</cp:lastModifiedBy>
  <cp:revision>2</cp:revision>
  <dcterms:created xsi:type="dcterms:W3CDTF">2013-01-27T09:14:16Z</dcterms:created>
  <dcterms:modified xsi:type="dcterms:W3CDTF">2025-11-17T04:46:19Z</dcterms:modified>
  <cp:category/>
</cp:coreProperties>
</file>